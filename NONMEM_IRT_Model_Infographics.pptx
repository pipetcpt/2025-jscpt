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8"/>
    <p:restoredTop sz="94637"/>
  </p:normalViewPr>
  <p:slideViewPr>
    <p:cSldViewPr snapToGrid="0" snapToObjects="1">
      <p:cViewPr varScale="1">
        <p:scale>
          <a:sx n="222" d="100"/>
          <a:sy n="222" d="100"/>
        </p:scale>
        <p:origin x="208" y="10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S-Core Dream 3 Light" panose="020B0303030302020204" pitchFamily="34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S-Core Dream 3 Light" panose="020B0303030302020204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S-Core Dream 3 Light" panose="020B0303030302020204" pitchFamily="34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S-Core Dream 3 Light" panose="020B0303030302020204" pitchFamily="34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-Core Dream 3 Light" panose="020B0303030302020204" pitchFamily="34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-Core Dream 3 Light" panose="020B0303030302020204" pitchFamily="34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-Core Dream 3 Light" panose="020B0303030302020204" pitchFamily="34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-Core Dream 3 Light" panose="020B0303030302020204" pitchFamily="34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-Core Dream 3 Light" panose="020B0303030302020204" pitchFamily="34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3716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Model for EDSS in Multiple Sclerosis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Longitudinal </a:t>
            </a:r>
            <a:r>
              <a:rPr dirty="0" err="1">
                <a:latin typeface="S-Core Dream 3 Light" panose="020B0303030302020204" pitchFamily="34" charset="-127"/>
              </a:rPr>
              <a:t>Pharmacometric</a:t>
            </a:r>
            <a:r>
              <a:rPr dirty="0">
                <a:latin typeface="S-Core Dream 3 Light" panose="020B0303030302020204" pitchFamily="34" charset="-127"/>
              </a:rPr>
              <a:t> Analysis of Cladribine Treatment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462" y="3383280"/>
            <a:ext cx="36567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Based on Novakovic et al., 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rPr dirty="0" err="1">
                <a:latin typeface="S-Core Dream 3 Light" panose="020B0303030302020204" pitchFamily="34" charset="-127"/>
              </a:rPr>
              <a:t>다발성</a:t>
            </a:r>
            <a:r>
              <a:rPr dirty="0">
                <a:latin typeface="S-Core Dream 3 Light" panose="020B0303030302020204" pitchFamily="34" charset="-127"/>
              </a:rPr>
              <a:t> </a:t>
            </a:r>
            <a:r>
              <a:rPr dirty="0" err="1">
                <a:latin typeface="S-Core Dream 3 Light" panose="020B0303030302020204" pitchFamily="34" charset="-127"/>
              </a:rPr>
              <a:t>경화증</a:t>
            </a:r>
            <a:r>
              <a:rPr dirty="0">
                <a:latin typeface="S-Core Dream 3 Light" panose="020B0303030302020204" pitchFamily="34" charset="-127"/>
              </a:rPr>
              <a:t> EDSS </a:t>
            </a:r>
            <a:r>
              <a:rPr dirty="0" err="1">
                <a:latin typeface="S-Core Dream 3 Light" panose="020B0303030302020204" pitchFamily="34" charset="-127"/>
              </a:rPr>
              <a:t>항목반응이론</a:t>
            </a:r>
            <a:r>
              <a:rPr dirty="0">
                <a:latin typeface="S-Core Dream 3 Light" panose="020B0303030302020204" pitchFamily="34" charset="-127"/>
              </a:rPr>
              <a:t> </a:t>
            </a:r>
            <a:r>
              <a:rPr dirty="0" err="1">
                <a:latin typeface="S-Core Dream 3 Light" panose="020B0303030302020204" pitchFamily="34" charset="-127"/>
              </a:rPr>
              <a:t>모델</a:t>
            </a:r>
            <a:r>
              <a:rPr dirty="0">
                <a:latin typeface="S-Core Dream 3 Light" panose="020B0303030302020204" pitchFamily="34" charset="-127"/>
              </a:rPr>
              <a:t> | </a:t>
            </a:r>
            <a:r>
              <a:rPr dirty="0" err="1">
                <a:latin typeface="S-Core Dream 3 Light" panose="020B0303030302020204" pitchFamily="34" charset="-127"/>
              </a:rPr>
              <a:t>클라드리빈</a:t>
            </a:r>
            <a:r>
              <a:rPr dirty="0">
                <a:latin typeface="S-Core Dream 3 Light" panose="020B0303030302020204" pitchFamily="34" charset="-127"/>
              </a:rPr>
              <a:t> </a:t>
            </a:r>
            <a:r>
              <a:rPr dirty="0" err="1">
                <a:latin typeface="S-Core Dream 3 Light" panose="020B0303030302020204" pitchFamily="34" charset="-127"/>
              </a:rPr>
              <a:t>치료</a:t>
            </a:r>
            <a:r>
              <a:rPr dirty="0">
                <a:latin typeface="S-Core Dream 3 Light" panose="020B0303030302020204" pitchFamily="34" charset="-127"/>
              </a:rPr>
              <a:t> </a:t>
            </a:r>
            <a:r>
              <a:rPr dirty="0" err="1">
                <a:latin typeface="S-Core Dream 3 Light" panose="020B0303030302020204" pitchFamily="34" charset="-127"/>
              </a:rPr>
              <a:t>효과</a:t>
            </a:r>
            <a:r>
              <a:rPr dirty="0">
                <a:latin typeface="S-Core Dream 3 Light" panose="020B0303030302020204" pitchFamily="34" charset="-127"/>
              </a:rPr>
              <a:t> </a:t>
            </a:r>
            <a:r>
              <a:rPr dirty="0" err="1">
                <a:latin typeface="S-Core Dream 3 Light" panose="020B0303030302020204" pitchFamily="34" charset="-127"/>
              </a:rPr>
              <a:t>분석</a:t>
            </a:r>
            <a:endParaRPr dirty="0">
              <a:latin typeface="S-Core Dream 3 Light" panose="020B0303030302020204" pitchFamily="34" charset="-127"/>
            </a:endParaRPr>
          </a:p>
          <a:p>
            <a:pPr algn="ctr">
              <a:defRPr sz="1600">
                <a:solidFill>
                  <a:srgbClr val="BDC3C7"/>
                </a:solidFill>
              </a:defRPr>
            </a:pPr>
            <a:r>
              <a:rPr dirty="0" err="1">
                <a:latin typeface="S-Core Dream 3 Light" panose="020B0303030302020204" pitchFamily="34" charset="-127"/>
              </a:rPr>
              <a:t>多発性硬化症</a:t>
            </a:r>
            <a:r>
              <a:rPr dirty="0">
                <a:latin typeface="S-Core Dream 3 Light" panose="020B0303030302020204" pitchFamily="34" charset="-127"/>
              </a:rPr>
              <a:t> EDSS </a:t>
            </a:r>
            <a:r>
              <a:rPr dirty="0" err="1">
                <a:latin typeface="S-Core Dream 3 Light" panose="020B0303030302020204" pitchFamily="34" charset="-127"/>
              </a:rPr>
              <a:t>項目反応理論モデル</a:t>
            </a:r>
            <a:r>
              <a:rPr dirty="0">
                <a:latin typeface="S-Core Dream 3 Light" panose="020B0303030302020204" pitchFamily="34" charset="-127"/>
              </a:rPr>
              <a:t> | </a:t>
            </a:r>
            <a:r>
              <a:rPr dirty="0" err="1">
                <a:latin typeface="S-Core Dream 3 Light" panose="020B0303030302020204" pitchFamily="34" charset="-127"/>
              </a:rPr>
              <a:t>クラドリビン治療効果分析</a:t>
            </a:r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94678" y="5943600"/>
            <a:ext cx="62023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NONMEM 7.3 | Laplacian Conditional Estimation | Item Response Theory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7067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Presentation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652" y="153619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21916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Model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39693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Longitudinal IRT framework with drug effects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652" y="231343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279916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Parameter Estimates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38795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Population PK/PD parameters and variability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652" y="309067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21755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Random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42835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Correlation structure via Cholesky decomposition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5652" y="386791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16706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14800"/>
            <a:ext cx="45672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Item characteristic curves and information functions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652" y="464515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72000"/>
            <a:ext cx="17395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Drug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92040"/>
            <a:ext cx="43685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Symptomatic and disease-modifying mechanisms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652" y="5422392"/>
            <a:ext cx="3289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49240"/>
            <a:ext cx="2614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Clinical Implications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69280"/>
            <a:ext cx="37673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insights for MS treatment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493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Clinical Background: Multiple Sclerosis &amp; EDSS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Multiple Sclerosis (MS)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Chronic autoimmune disease of the CNS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Affects ~2.8 million people worldwide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Progressive neurological disability over time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Characterized by relapses and remissions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Cladribine: oral disease-modifying therapy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6666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EDSS (Expanded Disability Status Scale)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03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Gold standard for MS disability assessment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Composite score from 0 (normal) to 10 (death)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Based on 8 functional system </a:t>
            </a:r>
            <a:r>
              <a:rPr dirty="0" err="1">
                <a:latin typeface="S-Core Dream 3 Light" panose="020B0303030302020204" pitchFamily="34" charset="-127"/>
              </a:rPr>
              <a:t>subscores</a:t>
            </a:r>
            <a:r>
              <a:rPr dirty="0">
                <a:latin typeface="S-Core Dream 3 Light" panose="020B0303030302020204" pitchFamily="34" charset="-127"/>
              </a:rPr>
              <a:t>: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- Pyramidal, Cerebellar, Brainstem, Sensory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- Bowel/Bladder, Visual, Mental, Ambulation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11612880" cy="256032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5043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Why Item Response Theory (IRT) for EDSS?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1367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Traditional Analysis Limitations:</a:t>
            </a:r>
          </a:p>
          <a:p>
            <a:pPr>
              <a:spcBef>
                <a:spcPts val="300"/>
              </a:spcBef>
              <a:defRPr sz="13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EDSS is ordinal, not continuous → standard regression inappropriate</a:t>
            </a:r>
          </a:p>
          <a:p>
            <a:pPr>
              <a:spcBef>
                <a:spcPts val="300"/>
              </a:spcBef>
              <a:defRPr sz="13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</a:t>
            </a:r>
            <a:r>
              <a:rPr dirty="0" err="1">
                <a:latin typeface="S-Core Dream 3 Light" panose="020B0303030302020204" pitchFamily="34" charset="-127"/>
              </a:rPr>
              <a:t>Subscores</a:t>
            </a:r>
            <a:r>
              <a:rPr dirty="0">
                <a:latin typeface="S-Core Dream 3 Light" panose="020B0303030302020204" pitchFamily="34" charset="-127"/>
              </a:rPr>
              <a:t> have different scales (0-4, 0-5, 0-6, 0-9) → not directly comparable</a:t>
            </a:r>
          </a:p>
          <a:p>
            <a:pPr>
              <a:spcBef>
                <a:spcPts val="300"/>
              </a:spcBef>
              <a:defRPr sz="13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Floor/ceiling effects mask true disability changes</a:t>
            </a:r>
          </a:p>
          <a:p>
            <a:pPr>
              <a:spcBef>
                <a:spcPts val="1000"/>
              </a:spcBef>
              <a:defRPr sz="14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Solution: Models a latent 'disability' trait that underlies all observed </a:t>
            </a:r>
            <a:r>
              <a:rPr dirty="0" err="1">
                <a:latin typeface="S-Core Dream 3 Light" panose="020B0303030302020204" pitchFamily="34" charset="-127"/>
              </a:rPr>
              <a:t>subscores</a:t>
            </a:r>
            <a:r>
              <a:rPr dirty="0">
                <a:latin typeface="S-Core Dream 3 Light" panose="020B0303030302020204" pitchFamily="34" charset="-127"/>
              </a:rPr>
              <a:t>, providing unified disease 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40857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Model 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29418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Longitudinal IRT Model Architecture</a:t>
            </a:r>
          </a:p>
        </p:txBody>
      </p:sp>
      <p:pic>
        <p:nvPicPr>
          <p:cNvPr id="5" name="Picture 4" descr="infographic_01_model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57730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Central latent variable (PD) represents true underlying disability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Power model captures non-linear disease progression over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Two distinct drug effect mechanisms: symptomatic and protective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FREM approach incorporates Age, MS Duration, Exacerbation count as covariates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8 functional systems linked via IRT graded response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Cholesky decomposition ensures valid correlation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6706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Model Structure: Mathematical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128016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5269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Disease Latent Variable Equation: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2328" y="1417320"/>
            <a:ext cx="797686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PD = P₁ + (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₁ + P₂) × (t/365)^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₂ × (1 - </a:t>
            </a:r>
            <a:r>
              <a:rPr dirty="0" err="1">
                <a:latin typeface="S-Core Dream 3 Light" panose="020B0303030302020204" pitchFamily="34" charset="-127"/>
              </a:rPr>
              <a:t>Ef_prot</a:t>
            </a:r>
            <a:r>
              <a:rPr dirty="0">
                <a:latin typeface="S-Core Dream 3 Light" panose="020B0303030302020204" pitchFamily="34" charset="-127"/>
              </a:rPr>
              <a:t>) - </a:t>
            </a:r>
            <a:r>
              <a:rPr dirty="0" err="1">
                <a:latin typeface="S-Core Dream 3 Light" panose="020B0303030302020204" pitchFamily="34" charset="-127"/>
              </a:rPr>
              <a:t>Ef_symp</a:t>
            </a:r>
            <a:endParaRPr dirty="0">
              <a:latin typeface="S-Core Dream 3 Light" panose="020B0303030302020204" pitchFamily="34" charset="-127"/>
            </a:endParaRPr>
          </a:p>
          <a:p>
            <a:pPr algn="ctr"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Where: P₁ = baseline disability (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₁), P₂ = individual slope (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₂), 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₁ = population slope, 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₂ = power parameter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688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21900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Disease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1368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Power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08960"/>
            <a:ext cx="3383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Slope (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₁) = 0.093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Power (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₂) = 0.710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Non-linear time course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Sub-linear progression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4688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1960" y="2560320"/>
            <a:ext cx="21739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Symptomatic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834640"/>
            <a:ext cx="10663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Emax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108960"/>
            <a:ext cx="3383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Emax = 0.17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EC50 = 408.29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Exposure-dependent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Immediate effect on symptoms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4688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39" y="2560320"/>
            <a:ext cx="1869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Protective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15231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Disease-Modifying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39" y="3108960"/>
            <a:ext cx="3383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Effect = 20.9%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Exposure-independent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Slows progression rate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Long-term benefit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937760"/>
            <a:ext cx="11612880" cy="164592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61366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Link: Connecting Latent Disease to Observed </a:t>
            </a:r>
            <a:r>
              <a:rPr dirty="0" err="1">
                <a:latin typeface="S-Core Dream 3 Light" panose="020B0303030302020204" pitchFamily="34" charset="-127"/>
              </a:rPr>
              <a:t>Subscores</a:t>
            </a:r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12471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Graded Response Model:  P(X ≥ k | 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) = 1 / (1 + exp(-a × (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 - bₖ)))</a:t>
            </a:r>
          </a:p>
          <a:p>
            <a:pPr>
              <a:spcBef>
                <a:spcPts val="600"/>
              </a:spcBef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Each functional system has unique discrimination (a) and boundary (b) parameters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Higher discrimination → item better differentiates disability levels | Boundaries define score thresholds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52357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Parameter Estimates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309091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Population Parameters and Variability</a:t>
            </a:r>
          </a:p>
        </p:txBody>
      </p:sp>
      <p:pic>
        <p:nvPicPr>
          <p:cNvPr id="5" name="Picture 4" descr="infographic_02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9363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Disease progression slope (0.093) indicates slow accumulation of disability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Power &lt; 1 (0.71) suggests decelerating progression over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Large variance in Age (99.3) reflects patient heterogeneity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Ambulation has highest discrimination (3.64) - most informative </a:t>
            </a:r>
            <a:r>
              <a:rPr dirty="0" err="1">
                <a:latin typeface="S-Core Dream 3 Light" panose="020B0303030302020204" pitchFamily="34" charset="-127"/>
              </a:rPr>
              <a:t>subscore</a:t>
            </a: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Visual has lowest discrimination (0.44) - less reliable indicator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OFV = 418.626 for model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626485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Random Effects Correlation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394050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Cholesky Parameterization of 5×5 Omega Matrix</a:t>
            </a:r>
          </a:p>
        </p:txBody>
      </p:sp>
      <p:pic>
        <p:nvPicPr>
          <p:cNvPr id="5" name="Picture 4" descr="infographic_0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62342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Age-MSD correlation (0.46) is clinically expected and validates the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Disability correlates weakly with Age (0.26) and MSD (0.27)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Slope shows minimal correlation with covariates (good for identifiability)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Negative EXNB correlations may reflect disease phase transitions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Overall weak correlations support parameter </a:t>
            </a:r>
            <a:r>
              <a:rPr dirty="0" err="1">
                <a:latin typeface="S-Core Dream 3 Light" panose="020B0303030302020204" pitchFamily="34" charset="-127"/>
              </a:rPr>
              <a:t>estimability</a:t>
            </a: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FREM enables covariate effects without traditional covariate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5590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Random Effects: Clinical Interpretation of Correlations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137160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8296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Cholesky Parameterization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Ensures positive-definite covariance matrix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Correlations estimated as separate parameters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FREM: Covariates as random effects for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669280" cy="1371600"/>
          </a:xfrm>
          <a:prstGeom prst="roundRect">
            <a:avLst/>
          </a:prstGeom>
          <a:solidFill>
            <a:srgbClr val="F0FF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2712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5×5 Correlation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Random effects: 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₁ (Disability), 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₂ (Slope),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₃ (Age), 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₄ (MSD), 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₅ (EXNB)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Plus </a:t>
            </a:r>
            <a:r>
              <a:rPr dirty="0" err="1">
                <a:latin typeface="S-Core Dream 3 Light" panose="020B0303030302020204" pitchFamily="34" charset="-127"/>
              </a:rPr>
              <a:t>η</a:t>
            </a:r>
            <a:r>
              <a:rPr dirty="0">
                <a:latin typeface="S-Core Dream 3 Light" panose="020B0303030302020204" pitchFamily="34" charset="-127"/>
              </a:rPr>
              <a:t>₆ (Drug Emax) - separate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176041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Age ↔ MS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053" y="2633472"/>
            <a:ext cx="21066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 = 0.458 (Moderate Positive)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Older patients have longer disease duration on average. Expected clinical finding validates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60320"/>
            <a:ext cx="56692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216758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Disability ↔ MS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8943" y="2633472"/>
            <a:ext cx="18453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 = 0.273 (Weak Positive)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Longer disease associates with higher baseline disability. Supports progressive nature of 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56692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3730752"/>
            <a:ext cx="14830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Disability ↔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5343" y="3730752"/>
            <a:ext cx="18453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 = 0.265 (Weak Positive)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2336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Age contributes to disability beyond disease duration. May reflect age-related neural reserve decline.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6692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5080" y="3730752"/>
            <a:ext cx="18886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MS Duration ↔ EXNB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100" y="3730752"/>
            <a:ext cx="197522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 = -0.115 (Weak Negative)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02336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Longer disease duration associated with fewer recent exacerbations. Possible transition to progressive phase.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309360"/>
            <a:ext cx="83167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5A5A6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Note: Weak correlations (|r| &lt; 0.3) suggest relatively independent random effects, supporting model identifiability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4983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Item Characteristic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392928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Probability of Scoring ≥ k at Each Disability Level</a:t>
            </a:r>
          </a:p>
        </p:txBody>
      </p:sp>
      <p:pic>
        <p:nvPicPr>
          <p:cNvPr id="5" name="Picture 4" descr="infographic_04_ic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4808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Steeper curves = higher discrimination = better differentiation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Ambulation shows sharp transitions - excellent disability marker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Visual shows gradual curves - less sensitive to changes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Curve spacing indicates boundary (threshold) locations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Items most informative where curves are steepest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Can guide selection of endpoints for clinical trials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3762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Analysis: Clinical Implications of Item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2377440"/>
          </a:xfrm>
          <a:prstGeom prst="roundRect">
            <a:avLst/>
          </a:prstGeom>
          <a:solidFill>
            <a:srgbClr val="E8FFE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0270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High Discrimination Items (slope &gt; 2.5)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Ambulation (3.64)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Most sensitive to disability changes. Walking ability strongly reflects underlying disease severity.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Pyramidal (3.17)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Motor function highly informative. Corticospinal tract involvement is a key MS feature.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Cerebellar (2.87)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Balance and coordination discriminate well between disability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669280" cy="2377440"/>
          </a:xfrm>
          <a:prstGeom prst="roundRect">
            <a:avLst/>
          </a:prstGeom>
          <a:solidFill>
            <a:srgbClr val="FFF5E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42001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Lower Discrimination Items (slope &lt; 1.5)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Visual (0.44)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Optic neuritis often occurs early and may recover. Less reflective of overall progression.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Mental (0.91)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Cognitive symptoms variable and may not correlate linearly with physical disability.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Sensory (0.99)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  Sensory symptoms fluctuate and are subjective. Less reliable disability indicator.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66160"/>
            <a:ext cx="11612880" cy="29260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35637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Clinical &amp; Trial Design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Trial Endpoints: </a:t>
            </a:r>
            <a:r>
              <a:rPr sz="1200" dirty="0">
                <a:solidFill>
                  <a:srgbClr val="34495E"/>
                </a:solidFill>
                <a:latin typeface="S-Core Dream 3 Light" panose="020B0303030302020204" pitchFamily="34" charset="-127"/>
              </a:rPr>
              <a:t>Consider weighting functional systems by discrimination. Ambulation-focused endpoints may be more sensitive to treatment effects.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Patient Monitoring: </a:t>
            </a:r>
            <a:r>
              <a:rPr sz="1200" dirty="0">
                <a:solidFill>
                  <a:srgbClr val="34495E"/>
                </a:solidFill>
                <a:latin typeface="S-Core Dream 3 Light" panose="020B0303030302020204" pitchFamily="34" charset="-127"/>
              </a:rPr>
              <a:t>Track high-discrimination items more closely for early detection of progression or treatment response.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Sample Size: </a:t>
            </a:r>
            <a:r>
              <a:rPr sz="1200" dirty="0">
                <a:solidFill>
                  <a:srgbClr val="34495E"/>
                </a:solidFill>
                <a:latin typeface="S-Core Dream 3 Light" panose="020B0303030302020204" pitchFamily="34" charset="-127"/>
              </a:rPr>
              <a:t>IRT-based analysis can increase power by modeling the latent trait directly, potentially reducing required sample size.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Precision Medicine: </a:t>
            </a:r>
            <a:r>
              <a:rPr sz="1200" dirty="0">
                <a:solidFill>
                  <a:srgbClr val="34495E"/>
                </a:solidFill>
                <a:latin typeface="S-Core Dream 3 Light" panose="020B0303030302020204" pitchFamily="34" charset="-127"/>
              </a:rPr>
              <a:t>Patients with primarily visual or sensory symptoms may show less response on standard EDSS despite treatment benefit.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9084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Cladribine Drug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408797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Symptomatic and Disease-Modifying Mechanisms</a:t>
            </a:r>
          </a:p>
        </p:txBody>
      </p:sp>
      <p:pic>
        <p:nvPicPr>
          <p:cNvPr id="5" name="Picture 4" descr="infographic_05_drug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60195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Emax model: saturable symptomatic effect with exposure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EC50 = 408.29 guides dosing for optimal symptomatic relief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Protective effect (20.9%) acts on progression rate, not absolute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Combined effects separate over time - greatest benefit long-term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Model supports both immediate benefit and disease modification claims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Enables simulation of various dosing regimens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019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Cladribine: Dual Mechanism Drug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2743200"/>
          </a:xfrm>
          <a:prstGeom prst="roundRect">
            <a:avLst/>
          </a:prstGeom>
          <a:solidFill>
            <a:srgbClr val="E8FFF3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6693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Symptomatic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4342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rPr dirty="0" err="1">
                <a:latin typeface="S-Core Dream 3 Light" panose="020B0303030302020204" pitchFamily="34" charset="-127"/>
              </a:rPr>
              <a:t>Ef_symp</a:t>
            </a:r>
            <a:r>
              <a:rPr dirty="0">
                <a:latin typeface="S-Core Dream 3 Light" panose="020B0303030302020204" pitchFamily="34" charset="-127"/>
              </a:rPr>
              <a:t> = Emax × Exposure / (Exposure + EC50)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1520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Emax = 0.17 (17% maximum reduction)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EC50 = 408.29 (half-maximal exposure)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Exposure-dependent: higher dose → greater effect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Direct reduction in disability latent variable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Rapid onset, dependent on drug levels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Surrogate exposure: CD × 104.5 / </a:t>
            </a:r>
            <a:r>
              <a:rPr dirty="0" err="1">
                <a:latin typeface="S-Core Dream 3 Light" panose="020B0303030302020204" pitchFamily="34" charset="-127"/>
              </a:rPr>
              <a:t>CrCL</a:t>
            </a:r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669280" cy="2743200"/>
          </a:xfrm>
          <a:prstGeom prst="roundRect">
            <a:avLst/>
          </a:prstGeom>
          <a:solidFill>
            <a:srgbClr val="FFEBEB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48574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Protective (Disease-Modifying)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5143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Progression × (1 - </a:t>
            </a:r>
            <a:r>
              <a:rPr dirty="0" err="1">
                <a:latin typeface="S-Core Dream 3 Light" panose="020B0303030302020204" pitchFamily="34" charset="-127"/>
              </a:rPr>
              <a:t>Ef_prot</a:t>
            </a:r>
            <a:r>
              <a:rPr dirty="0">
                <a:latin typeface="S-Core Dream 3 Light" panose="020B0303030302020204" pitchFamily="34" charset="-127"/>
              </a:rPr>
              <a:t>) where </a:t>
            </a:r>
            <a:r>
              <a:rPr dirty="0" err="1">
                <a:latin typeface="S-Core Dream 3 Light" panose="020B0303030302020204" pitchFamily="34" charset="-127"/>
              </a:rPr>
              <a:t>Ef_prot</a:t>
            </a:r>
            <a:r>
              <a:rPr dirty="0">
                <a:latin typeface="S-Core Dream 3 Light" panose="020B0303030302020204" pitchFamily="34" charset="-127"/>
              </a:rPr>
              <a:t> = 0.209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303520" cy="1520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20.9% reduction in progression rate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Exposure-INDEPENDENT (binary effect)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Slows the underlying disease process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Cumulative benefit over time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Active when TRT ≥ 1 and time &gt; 0</a:t>
            </a:r>
          </a:p>
          <a:p>
            <a:pPr>
              <a:spcBef>
                <a:spcPts val="500"/>
              </a:spcBef>
              <a:defRPr sz="12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Mechanism: lymphocyte depletion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11612880" cy="2606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4863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Clinical Significance &amp; Therapeutic Implications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112471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Dual Mechanism Advantage:</a:t>
            </a:r>
          </a:p>
          <a:p>
            <a:pPr>
              <a:spcBef>
                <a:spcPts val="500"/>
              </a:spcBef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Symptomatic effect provides immediate benefit patients can perceive (improved daily function)</a:t>
            </a:r>
          </a:p>
          <a:p>
            <a:pPr>
              <a:spcBef>
                <a:spcPts val="500"/>
              </a:spcBef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Protective effect provides long-term disease modification (delayed disability progression)</a:t>
            </a:r>
          </a:p>
          <a:p>
            <a:pPr>
              <a:spcBef>
                <a:spcPts val="500"/>
              </a:spcBef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Combined effect: both symptom relief AND slower progression trajectory</a:t>
            </a:r>
          </a:p>
          <a:p>
            <a:pPr>
              <a:spcBef>
                <a:spcPts val="500"/>
              </a:spcBef>
              <a:defRPr sz="1200">
                <a:solidFill>
                  <a:srgbClr val="34495E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Model enables prediction of long-term outcomes from short-term exposure data</a:t>
            </a:r>
          </a:p>
          <a:p>
            <a:pPr>
              <a:spcBef>
                <a:spcPts val="1000"/>
              </a:spcBef>
              <a:defRPr sz="12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Insight: The protective effect (20.9%) compounds over time - a patient treated for 5 years accumulates substantial disability reduction vs. placebo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7468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Item Parameter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433484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Discrimination, Information, and Boundary Thresholds</a:t>
            </a:r>
          </a:p>
        </p:txBody>
      </p:sp>
      <p:pic>
        <p:nvPicPr>
          <p:cNvPr id="5" name="Picture 4" descr="infographic_06_ir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772400" cy="63022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868680"/>
            <a:ext cx="3840480" cy="58064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0" y="960120"/>
            <a:ext cx="2276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Key Points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Test Information Function peaks around 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 = 2-3 (moderate disability)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Less precision at extremes (very low or very high disability)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Ambulation boundaries span wide </a:t>
            </a:r>
            <a:r>
              <a:rPr dirty="0" err="1">
                <a:latin typeface="S-Core Dream 3 Light" panose="020B0303030302020204" pitchFamily="34" charset="-127"/>
              </a:rPr>
              <a:t>θ</a:t>
            </a:r>
            <a:r>
              <a:rPr dirty="0">
                <a:latin typeface="S-Core Dream 3 Light" panose="020B0303030302020204" pitchFamily="34" charset="-127"/>
              </a:rPr>
              <a:t> range (0-9 score range)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Item information curves show where each </a:t>
            </a:r>
            <a:r>
              <a:rPr dirty="0" err="1">
                <a:latin typeface="S-Core Dream 3 Light" panose="020B0303030302020204" pitchFamily="34" charset="-127"/>
              </a:rPr>
              <a:t>subscore</a:t>
            </a:r>
            <a:r>
              <a:rPr dirty="0">
                <a:latin typeface="S-Core Dream 3 Light" panose="020B0303030302020204" pitchFamily="34" charset="-127"/>
              </a:rPr>
              <a:t> is most useful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Standard error inversely related to information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Results support IRT as superior to simple sum scoring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1368" y="274320"/>
            <a:ext cx="93089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Summary: Key Findings &amp; Clinical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6289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Disease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Power function progression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Slope = 0.093, Power = 0.71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Non-linear, sub-linear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4840" y="1188720"/>
            <a:ext cx="14318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Drug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Dual mechanism: Symptomatic (Emax)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+ Protective (20.9% rate reduction)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Both contribute to efficacy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1188720"/>
            <a:ext cx="13356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Ambulation most informative (a=3.64)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Visual least informative (a=0.44)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Consider weighted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83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13756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Age-MSD: r=0.46 (expected)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Weak inter-correlations support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model identifiability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383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3474720"/>
            <a:ext cx="12346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Population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86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Mean age: 38.6 years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Mean MS duration: 8.7 years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Mean exacerbations: 1.35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383280"/>
            <a:ext cx="3657600" cy="2011680"/>
          </a:xfrm>
          <a:prstGeom prst="roundRect">
            <a:avLst/>
          </a:prstGeom>
          <a:solidFill>
            <a:srgbClr val="34495E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3474720"/>
            <a:ext cx="11015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Model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86200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OFV = 418.626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Laplacian estimation</a:t>
            </a:r>
          </a:p>
          <a:p>
            <a:pPr>
              <a:spcBef>
                <a:spcPts val="400"/>
              </a:spcBef>
              <a:defRPr sz="12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241 </a:t>
            </a:r>
            <a:r>
              <a:rPr dirty="0" err="1">
                <a:latin typeface="S-Core Dream 3 Light" panose="020B0303030302020204" pitchFamily="34" charset="-127"/>
              </a:rPr>
              <a:t>obs</a:t>
            </a:r>
            <a:r>
              <a:rPr dirty="0">
                <a:latin typeface="S-Core Dream 3 Light" panose="020B0303030302020204" pitchFamily="34" charset="-127"/>
              </a:rPr>
              <a:t>, 3 subjects (simulated)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5216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Conclusion: IRT-based longitudinal modeling provides mechanistic insights into cladribine's dual action,</a:t>
            </a:r>
          </a:p>
          <a:p>
            <a:pPr algn="ctr">
              <a:defRPr sz="1400">
                <a:solidFill>
                  <a:srgbClr val="ECF0F1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enabling optimized dosing strategies and more sensitive clinical trial endpoints for MS treatment.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-Core Dream 3 Light" panose="020B0303030302020204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54280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Primary Reference: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Novakovic AM, et al. (2016). Longitudinal Item Response Theory Model for EDSS in Multiple Sclerosis. CPT: Pharmacometrics &amp; Systems Pharmacology.</a:t>
            </a:r>
          </a:p>
          <a:p>
            <a:pPr>
              <a:defRPr sz="800"/>
            </a:pP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IRT Methodology: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Samejima F. (1969). Estimation of latent ability using a response pattern of graded scores. Psychometrika Monograph Supplement, 34(4).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Ueckert S, et al. (2014). Modeling composite assessment data using item response theory. CPT: Pharmacometrics &amp; Systems Pharmacology.</a:t>
            </a:r>
          </a:p>
          <a:p>
            <a:pPr>
              <a:defRPr sz="800"/>
            </a:pP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NONMEM &amp; Pharmacometrics: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Beal S, Sheiner LB, Boeckmann A, &amp; Bauer RJ. (2009). NONMEM User's Guides. Icon Development Solutions.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Karlsson MO &amp; Holford N. (2008). A Tutorial on Visual Predictive Checks. PAGE Meeting.</a:t>
            </a:r>
          </a:p>
          <a:p>
            <a:pPr>
              <a:defRPr sz="800"/>
            </a:pP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Multiple Sclerosis &amp; EDSS: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</a:t>
            </a:r>
            <a:r>
              <a:rPr dirty="0" err="1">
                <a:latin typeface="S-Core Dream 3 Light" panose="020B0303030302020204" pitchFamily="34" charset="-127"/>
              </a:rPr>
              <a:t>Kurtzke</a:t>
            </a:r>
            <a:r>
              <a:rPr dirty="0">
                <a:latin typeface="S-Core Dream 3 Light" panose="020B0303030302020204" pitchFamily="34" charset="-127"/>
              </a:rPr>
              <a:t> JF. (1983). Rating neurologic impairment in multiple sclerosis: an expanded disability status scale (EDSS). Neurology.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Thompson AJ, et al. (2018). Diagnosis of multiple sclerosis: 2017 revisions of the McDonald criteria. Lancet Neurology.</a:t>
            </a:r>
          </a:p>
          <a:p>
            <a:pPr>
              <a:defRPr sz="800"/>
            </a:pPr>
            <a:endParaRPr dirty="0">
              <a:latin typeface="S-Core Dream 3 Light" panose="020B0303030302020204" pitchFamily="34" charset="-127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3498DB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Cladribine:</a:t>
            </a:r>
          </a:p>
          <a:p>
            <a:pPr>
              <a:spcBef>
                <a:spcPts val="300"/>
              </a:spcBef>
              <a:defRPr sz="1100">
                <a:solidFill>
                  <a:srgbClr val="2C3E50"/>
                </a:solidFill>
              </a:defRPr>
            </a:pPr>
            <a:r>
              <a:rPr dirty="0">
                <a:latin typeface="S-Core Dream 3 Light" panose="020B0303030302020204" pitchFamily="34" charset="-127"/>
              </a:rPr>
              <a:t>• Giovannoni G, et al. (2010). A placebo-controlled trial of oral cladribine for relapsing multiple sclerosis. NEJM.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1903</Words>
  <Application>Microsoft Macintosh PowerPoint</Application>
  <PresentationFormat>와이드스크린</PresentationFormat>
  <Paragraphs>235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S-Core Dream 3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Sungpil Han</cp:lastModifiedBy>
  <cp:revision>2</cp:revision>
  <dcterms:created xsi:type="dcterms:W3CDTF">2013-01-27T09:14:16Z</dcterms:created>
  <dcterms:modified xsi:type="dcterms:W3CDTF">2025-12-05T07:43:16Z</dcterms:modified>
  <cp:category/>
</cp:coreProperties>
</file>